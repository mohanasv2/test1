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83EB-3E47-0ECD-1CB0-B2FB844F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15A3A-2EF9-ED2F-9340-C2F57453D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12FD0-3FA8-BD5B-4FAD-A1C1A5FA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B447-6252-68A4-932C-A98472BD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B0E24-CC5D-3AC8-60F9-B167BA6D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9118-A55A-18F6-0E04-7541E527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4E8C-B622-2A33-73C5-F297BE0D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E7D10-46F9-D7B4-A22D-705EB094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559DB-512F-B93F-454F-0958B1FA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47256-6FB6-9B7E-7122-53DA30CF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E389-FADE-B431-461D-197D2E83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AB0C1-68C0-2945-5007-656DF0FE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BA98-7391-F959-99BC-30BB895F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8A9D9-877A-E214-7930-4DF2319A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FB047-7F9C-1235-5DCA-8D6D8CDC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8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6FFFE-6730-BC48-0EED-08064D82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22EEE-11AF-A2FA-F207-CF48C010D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2BB5-ECB1-3B99-2F3B-CD87F48C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4001A-C107-653F-50E7-B529A591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6B9AF-9E0F-857E-5E0F-88C33000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A41F0-BEE1-62FD-6D32-E47F5517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2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D247-77A6-CF46-A08B-832BB031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12DA8-1E28-1322-B0E3-428E2C162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A039B-70B7-A270-6A1B-AEF016A71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90B87-ED94-D9B3-74E2-E071CF88E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5D000C-2D5B-A79C-DF82-EFBACA394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747FD-8CC5-4BE1-3FE1-702543F9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B5030-37B4-D2DC-88D8-A0FC3E57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40086-D5AA-57E9-0FBE-15C97027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3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2B97-CD03-C5D4-995F-E503A1DD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5DC54-0D8C-E137-6EF7-D8E530EA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E446E-C093-E01B-B21A-D9386A59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A2D50-275F-F210-9F56-39A836B6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3DF0A-811C-C6CF-A0D6-CD2C49DF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AB011-FA50-72CD-914E-A28375C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65FC0-4597-A071-8B77-FD94A083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5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89F4-DA01-3581-EEF9-0276D4B3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7CCF-9925-60AF-848F-DA9A44C55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B52BB-2816-C8F2-59CF-154014A10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579A1-AF02-5879-49ED-94390D31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73CE6-E9FC-914A-4B14-3DE0BD38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322D7-FDA2-B57A-9A8B-08245A0D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6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C0DB-A763-0C74-7354-227A3C3B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E6834-C8AA-2145-550C-4DEAD8E76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8117C-7F3D-3AEC-4790-D8653C95B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3791E-696C-79E6-D6CC-95C696F3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13B06-85D6-16B2-DF20-33AB2588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D619C-1EE7-3D7B-77F5-E42836F7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4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3E55-FD13-5B4A-6BBC-56EBC055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16730-501A-310D-8A3E-142F3D742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AB017-292E-D25F-E539-4DBCB3BB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F0CF-1CAF-9AF0-C7AA-DE3C07B5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80F0-217D-2B94-0CA8-4B6DCE22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3DB47-E6EC-1D03-0782-27ACE8770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323E-05AC-8278-602C-B0FD76A2A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A6275-C790-E51E-6A7E-896731BE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8016C-2B1A-F6EE-4D21-9ABC3A11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074C6-7E37-51BD-DDB1-5071FABD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17AF0-0CC9-3520-C08E-8AF26053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63896-57FD-07B0-DA9C-767567E54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E773-BB9F-4CE6-EF20-AE5881393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48CFE-165D-4F6D-9B15-897732F8042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2500C-89CE-2847-2B7E-E3A6A4EF9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4C32A-E06F-8F89-D411-01EE6A7D6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462F9-4800-4D1B-952B-B637D8F0FD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C5D6B-223A-7700-A9A1-C8D3FDAA51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9272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[AMD Official Use Only - General]</a:t>
            </a:r>
          </a:p>
        </p:txBody>
      </p:sp>
    </p:spTree>
    <p:extLst>
      <p:ext uri="{BB962C8B-B14F-4D97-AF65-F5344CB8AC3E}">
        <p14:creationId xmlns:p14="http://schemas.microsoft.com/office/powerpoint/2010/main" val="366501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FB4146-2500-31D1-E980-EBC544A21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501" y="2601119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Linux Kernel Development Process</a:t>
            </a:r>
          </a:p>
          <a:p>
            <a:endParaRPr lang="en-US" sz="4000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Infobell</a:t>
            </a:r>
            <a:r>
              <a:rPr lang="en-US" sz="3400" b="1" dirty="0">
                <a:solidFill>
                  <a:srgbClr val="002060"/>
                </a:solidFill>
              </a:rPr>
              <a:t> IT Solutions</a:t>
            </a:r>
          </a:p>
          <a:p>
            <a:r>
              <a:rPr lang="en-US" sz="3400" dirty="0">
                <a:solidFill>
                  <a:srgbClr val="002060"/>
                </a:solidFill>
              </a:rPr>
              <a:t>12/Feb/2024</a:t>
            </a:r>
          </a:p>
          <a:p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63201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8B06F6-85F0-06A0-3703-14B6D331EBDB}"/>
              </a:ext>
            </a:extLst>
          </p:cNvPr>
          <p:cNvSpPr/>
          <p:nvPr/>
        </p:nvSpPr>
        <p:spPr>
          <a:xfrm>
            <a:off x="3921919" y="1057455"/>
            <a:ext cx="4050506" cy="8713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Merge Window Opens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(for Mainline </a:t>
            </a:r>
            <a:r>
              <a:rPr lang="en-US" dirty="0" err="1">
                <a:solidFill>
                  <a:srgbClr val="7030A0"/>
                </a:solidFill>
              </a:rPr>
              <a:t>linux</a:t>
            </a:r>
            <a:r>
              <a:rPr lang="en-US" dirty="0">
                <a:solidFill>
                  <a:srgbClr val="7030A0"/>
                </a:solidFill>
              </a:rPr>
              <a:t>-Torvalds tree 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A1077-7965-53B4-3046-97F6FE7D8DF5}"/>
              </a:ext>
            </a:extLst>
          </p:cNvPr>
          <p:cNvSpPr/>
          <p:nvPr/>
        </p:nvSpPr>
        <p:spPr>
          <a:xfrm>
            <a:off x="3921919" y="2767193"/>
            <a:ext cx="4050505" cy="542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Release Candidate 1 (RC1)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586E6-FFE0-F86C-D162-6CE82CD164AF}"/>
              </a:ext>
            </a:extLst>
          </p:cNvPr>
          <p:cNvSpPr/>
          <p:nvPr/>
        </p:nvSpPr>
        <p:spPr>
          <a:xfrm>
            <a:off x="3921916" y="3934006"/>
            <a:ext cx="4050504" cy="99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30A0"/>
                </a:solidFill>
              </a:rPr>
              <a:t>RCn</a:t>
            </a:r>
            <a:r>
              <a:rPr lang="en-US" dirty="0">
                <a:solidFill>
                  <a:srgbClr val="7030A0"/>
                </a:solidFill>
              </a:rPr>
              <a:t> [Based on stabilization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n can vary from 6-10]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DCFB3-6D80-C9E8-CFA1-ED82D2C35BD4}"/>
              </a:ext>
            </a:extLst>
          </p:cNvPr>
          <p:cNvSpPr/>
          <p:nvPr/>
        </p:nvSpPr>
        <p:spPr>
          <a:xfrm>
            <a:off x="3921915" y="5414784"/>
            <a:ext cx="4050503" cy="385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Final Release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7A009-43FF-585E-CD97-946BE1E7A131}"/>
              </a:ext>
            </a:extLst>
          </p:cNvPr>
          <p:cNvSpPr/>
          <p:nvPr/>
        </p:nvSpPr>
        <p:spPr>
          <a:xfrm>
            <a:off x="8767753" y="5313958"/>
            <a:ext cx="2640808" cy="48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Stable Release 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dirty="0" err="1">
                <a:solidFill>
                  <a:srgbClr val="7030A0"/>
                </a:solidFill>
              </a:rPr>
              <a:t>linux-stable.git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C4C013-0F6A-E407-0E7B-DB7FDB7F866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947172" y="1928813"/>
            <a:ext cx="0" cy="838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9F1C3-9516-6BFC-CA08-3476172390D2}"/>
              </a:ext>
            </a:extLst>
          </p:cNvPr>
          <p:cNvCxnSpPr/>
          <p:nvPr/>
        </p:nvCxnSpPr>
        <p:spPr>
          <a:xfrm>
            <a:off x="5947166" y="3310118"/>
            <a:ext cx="0" cy="62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4B8019-98B6-FE19-0B17-A37052B4D4D7}"/>
              </a:ext>
            </a:extLst>
          </p:cNvPr>
          <p:cNvSpPr txBox="1"/>
          <p:nvPr/>
        </p:nvSpPr>
        <p:spPr>
          <a:xfrm>
            <a:off x="3515916" y="320339"/>
            <a:ext cx="51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</a:rPr>
              <a:t>Linux  Upstream (Mainline)  Development  Cycle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DC0966-D862-D224-28E2-CE9198653FF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947166" y="4929188"/>
            <a:ext cx="1" cy="485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7F2218E-129D-71EB-12CB-51F7BCDA416E}"/>
              </a:ext>
            </a:extLst>
          </p:cNvPr>
          <p:cNvSpPr/>
          <p:nvPr/>
        </p:nvSpPr>
        <p:spPr>
          <a:xfrm>
            <a:off x="8817767" y="6238695"/>
            <a:ext cx="2540795" cy="490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Stable Release maintenance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306714-3EE3-64D6-50EA-1B22FBCF983B}"/>
              </a:ext>
            </a:extLst>
          </p:cNvPr>
          <p:cNvCxnSpPr>
            <a:cxnSpLocks/>
          </p:cNvCxnSpPr>
          <p:nvPr/>
        </p:nvCxnSpPr>
        <p:spPr>
          <a:xfrm>
            <a:off x="7972418" y="5607665"/>
            <a:ext cx="804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303268-1ACD-CC8F-15AE-F8847C84453C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088157" y="5799551"/>
            <a:ext cx="0" cy="453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977831-D615-5C8C-E19C-9800A7285A95}"/>
              </a:ext>
            </a:extLst>
          </p:cNvPr>
          <p:cNvCxnSpPr>
            <a:stCxn id="8" idx="1"/>
          </p:cNvCxnSpPr>
          <p:nvPr/>
        </p:nvCxnSpPr>
        <p:spPr>
          <a:xfrm flipH="1">
            <a:off x="2986088" y="5607665"/>
            <a:ext cx="9358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9A62D9-FFC6-A9F2-150D-5154B7DB3625}"/>
              </a:ext>
            </a:extLst>
          </p:cNvPr>
          <p:cNvCxnSpPr/>
          <p:nvPr/>
        </p:nvCxnSpPr>
        <p:spPr>
          <a:xfrm flipV="1">
            <a:off x="2986088" y="1493134"/>
            <a:ext cx="0" cy="41145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80BB6D-7C5F-3B87-B9A2-96CC89AA88C7}"/>
              </a:ext>
            </a:extLst>
          </p:cNvPr>
          <p:cNvCxnSpPr>
            <a:endCxn id="5" idx="1"/>
          </p:cNvCxnSpPr>
          <p:nvPr/>
        </p:nvCxnSpPr>
        <p:spPr>
          <a:xfrm>
            <a:off x="2986088" y="1493134"/>
            <a:ext cx="935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060339-45BB-689D-EA55-8E07A66E3464}"/>
              </a:ext>
            </a:extLst>
          </p:cNvPr>
          <p:cNvSpPr txBox="1"/>
          <p:nvPr/>
        </p:nvSpPr>
        <p:spPr>
          <a:xfrm>
            <a:off x="6244829" y="2163335"/>
            <a:ext cx="111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2 weeks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1F35E0-38D6-2022-299E-35B93F57306A}"/>
              </a:ext>
            </a:extLst>
          </p:cNvPr>
          <p:cNvSpPr txBox="1"/>
          <p:nvPr/>
        </p:nvSpPr>
        <p:spPr>
          <a:xfrm>
            <a:off x="6244829" y="3422518"/>
            <a:ext cx="198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6-10  weeks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1D1B87-A19D-5F07-6369-2E27F5A79322}"/>
              </a:ext>
            </a:extLst>
          </p:cNvPr>
          <p:cNvSpPr/>
          <p:nvPr/>
        </p:nvSpPr>
        <p:spPr>
          <a:xfrm>
            <a:off x="187524" y="2029334"/>
            <a:ext cx="2500903" cy="7378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30A0"/>
                </a:solidFill>
              </a:rPr>
              <a:t>linux</a:t>
            </a:r>
            <a:r>
              <a:rPr lang="en-US" dirty="0">
                <a:solidFill>
                  <a:srgbClr val="7030A0"/>
                </a:solidFill>
              </a:rPr>
              <a:t>-next tree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D86B7B-1D7F-3DB4-8A94-464FA0BC3962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2688427" y="2359640"/>
            <a:ext cx="3258739" cy="3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96BF001-86DE-16F5-4A40-F5CF875CBFC7}"/>
              </a:ext>
            </a:extLst>
          </p:cNvPr>
          <p:cNvSpPr txBox="1"/>
          <p:nvPr/>
        </p:nvSpPr>
        <p:spPr>
          <a:xfrm>
            <a:off x="3842739" y="1986945"/>
            <a:ext cx="195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Patches merged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A71D53-3D4A-4EBB-9272-1169670224CE}"/>
              </a:ext>
            </a:extLst>
          </p:cNvPr>
          <p:cNvSpPr/>
          <p:nvPr/>
        </p:nvSpPr>
        <p:spPr>
          <a:xfrm>
            <a:off x="131281" y="3449210"/>
            <a:ext cx="2500903" cy="7378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Subsystems tree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086854-92D4-0F77-5609-F4CEACA9EF04}"/>
              </a:ext>
            </a:extLst>
          </p:cNvPr>
          <p:cNvCxnSpPr/>
          <p:nvPr/>
        </p:nvCxnSpPr>
        <p:spPr>
          <a:xfrm flipV="1">
            <a:off x="1928813" y="2812107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3DFB4C-793F-F045-2C74-8AE4D5513B37}"/>
              </a:ext>
            </a:extLst>
          </p:cNvPr>
          <p:cNvCxnSpPr/>
          <p:nvPr/>
        </p:nvCxnSpPr>
        <p:spPr>
          <a:xfrm flipV="1">
            <a:off x="1381732" y="2796265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8809B31-26CB-F5F9-99D5-9506D85CF991}"/>
              </a:ext>
            </a:extLst>
          </p:cNvPr>
          <p:cNvCxnSpPr/>
          <p:nvPr/>
        </p:nvCxnSpPr>
        <p:spPr>
          <a:xfrm flipV="1">
            <a:off x="781050" y="2802747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D2DB5BB-C385-5F82-A231-59C89EDD8B15}"/>
              </a:ext>
            </a:extLst>
          </p:cNvPr>
          <p:cNvCxnSpPr/>
          <p:nvPr/>
        </p:nvCxnSpPr>
        <p:spPr>
          <a:xfrm>
            <a:off x="2343150" y="2802747"/>
            <a:ext cx="1285875" cy="8193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54F8499-1E25-DE99-C10C-F96E5D2AD498}"/>
              </a:ext>
            </a:extLst>
          </p:cNvPr>
          <p:cNvCxnSpPr/>
          <p:nvPr/>
        </p:nvCxnSpPr>
        <p:spPr>
          <a:xfrm>
            <a:off x="3629025" y="3622062"/>
            <a:ext cx="2318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E51370-855A-96BD-DE86-6EF0B56A92B7}"/>
              </a:ext>
            </a:extLst>
          </p:cNvPr>
          <p:cNvSpPr txBox="1"/>
          <p:nvPr/>
        </p:nvSpPr>
        <p:spPr>
          <a:xfrm>
            <a:off x="3779946" y="3318333"/>
            <a:ext cx="195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Bug fixes merged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05F3B90-3307-A4BF-02CC-F4E717F2A161}"/>
              </a:ext>
            </a:extLst>
          </p:cNvPr>
          <p:cNvSpPr/>
          <p:nvPr/>
        </p:nvSpPr>
        <p:spPr>
          <a:xfrm>
            <a:off x="131280" y="4882719"/>
            <a:ext cx="2500903" cy="7378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Patches  &amp; bug fixes from the developers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4B7FA7-3416-E103-C43C-5B2D139E4D90}"/>
              </a:ext>
            </a:extLst>
          </p:cNvPr>
          <p:cNvCxnSpPr/>
          <p:nvPr/>
        </p:nvCxnSpPr>
        <p:spPr>
          <a:xfrm flipV="1">
            <a:off x="750673" y="4256466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978CB8D-A1AA-9207-938E-6C1C2A9647A3}"/>
              </a:ext>
            </a:extLst>
          </p:cNvPr>
          <p:cNvCxnSpPr/>
          <p:nvPr/>
        </p:nvCxnSpPr>
        <p:spPr>
          <a:xfrm flipV="1">
            <a:off x="1363711" y="4256465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F5509A9-314C-CC96-C3D2-2CD9D534F0B3}"/>
              </a:ext>
            </a:extLst>
          </p:cNvPr>
          <p:cNvCxnSpPr/>
          <p:nvPr/>
        </p:nvCxnSpPr>
        <p:spPr>
          <a:xfrm flipV="1">
            <a:off x="1928813" y="4224316"/>
            <a:ext cx="0" cy="62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97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A7C5-242F-5C6D-CE74-07B79423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201"/>
            <a:ext cx="10233454" cy="561631"/>
          </a:xfrm>
        </p:spPr>
        <p:txBody>
          <a:bodyPr>
            <a:norm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</a:rPr>
              <a:t>Linux patch upstream development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07656-E59E-904D-94F8-E2C2F42D0512}"/>
              </a:ext>
            </a:extLst>
          </p:cNvPr>
          <p:cNvSpPr/>
          <p:nvPr/>
        </p:nvSpPr>
        <p:spPr>
          <a:xfrm>
            <a:off x="222423" y="1112109"/>
            <a:ext cx="11553566" cy="5516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u="sng" dirty="0">
              <a:solidFill>
                <a:schemeClr val="tx1"/>
              </a:solidFill>
            </a:endParaRPr>
          </a:p>
          <a:p>
            <a:r>
              <a:rPr lang="en-US" sz="2000" b="1" u="sng" dirty="0">
                <a:solidFill>
                  <a:srgbClr val="7030A0"/>
                </a:solidFill>
              </a:rPr>
              <a:t>Upstream patch development steps</a:t>
            </a:r>
            <a:r>
              <a:rPr lang="en-US" sz="2400" b="1" u="sng" dirty="0">
                <a:solidFill>
                  <a:srgbClr val="7030A0"/>
                </a:solidFill>
              </a:rPr>
              <a:t>:</a:t>
            </a:r>
          </a:p>
          <a:p>
            <a:endParaRPr lang="en-US" sz="1400" dirty="0">
              <a:solidFill>
                <a:srgbClr val="7030A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Describe the problem being solved and plans of implementation.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Work is being done in a corporate environment requires managers permission to be posted in public mailing list.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Send the plans and the implementation details to the list of Linux kernel subsystem maintainers and request for comments.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After getting official buy-in from maintainers, start the implementation.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Implementation: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Follow the coding guidelines (coding style, inline functions, locking, </a:t>
            </a:r>
            <a:r>
              <a:rPr lang="en-US" sz="1400" dirty="0" err="1">
                <a:solidFill>
                  <a:srgbClr val="7030A0"/>
                </a:solidFill>
              </a:rPr>
              <a:t>etc</a:t>
            </a:r>
            <a:r>
              <a:rPr lang="en-US" sz="1400" dirty="0">
                <a:solidFill>
                  <a:srgbClr val="7030A0"/>
                </a:solidFill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Give attention to compile time warnings/errors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Use code checking tools to find static &amp; runtime issues.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Check for regressions.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Add appropriate documentation.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Preparing the patch for posting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If the changes are large, break into logical sequences and each contains most simple changes.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Then prepare each sequence as patch in logical order. Now it becomes series of patches for posting.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A one-line description of what the patch does. A blank line followed by a detailed description of the contents of the patch.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7030A0"/>
                </a:solidFill>
              </a:rPr>
              <a:t>One or more tag lines, with, at a minimum, one Signed-off-by: line from the author of the patch.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Post the patch for review to the relevant subsystem maintainers and CC to open mailing list and developers who are already working on similar issues.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Address the review comments given by the reviewers.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Once the patch(es) are approved, they will be merged into the subsystem maintainers tree.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Inclusion of patches into subsystem trees will get attention from other developers may trigger further review comments. The review comments should be addressed in same way.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</a:rPr>
              <a:t>From the subsystems tree, the patches will go to </a:t>
            </a:r>
            <a:r>
              <a:rPr lang="en-US" sz="1400" dirty="0" err="1">
                <a:solidFill>
                  <a:srgbClr val="7030A0"/>
                </a:solidFill>
              </a:rPr>
              <a:t>linux</a:t>
            </a:r>
            <a:r>
              <a:rPr lang="en-US" sz="1400" dirty="0">
                <a:solidFill>
                  <a:srgbClr val="7030A0"/>
                </a:solidFill>
              </a:rPr>
              <a:t>-next tree. From there, they will go to mainline tree, when the merge window opens.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7030A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95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390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Linux patch upstream development process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V, Mohanasundaram</dc:creator>
  <cp:lastModifiedBy>V, Mohanasundaram</cp:lastModifiedBy>
  <cp:revision>43</cp:revision>
  <dcterms:created xsi:type="dcterms:W3CDTF">2024-02-12T04:14:07Z</dcterms:created>
  <dcterms:modified xsi:type="dcterms:W3CDTF">2024-02-12T08:47:14Z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42314e-0df4-4b58-84bf-38bed6170a0f_Enabled">
    <vt:lpwstr>true</vt:lpwstr>
  </property>
  <property fmtid="{D5CDD505-2E9C-101B-9397-08002B2CF9AE}" pid="3" name="MSIP_Label_4342314e-0df4-4b58-84bf-38bed6170a0f_SetDate">
    <vt:lpwstr>2024-02-12T04:15:52Z</vt:lpwstr>
  </property>
  <property fmtid="{D5CDD505-2E9C-101B-9397-08002B2CF9AE}" pid="4" name="MSIP_Label_4342314e-0df4-4b58-84bf-38bed6170a0f_Method">
    <vt:lpwstr>Standard</vt:lpwstr>
  </property>
  <property fmtid="{D5CDD505-2E9C-101B-9397-08002B2CF9AE}" pid="5" name="MSIP_Label_4342314e-0df4-4b58-84bf-38bed6170a0f_Name">
    <vt:lpwstr>General</vt:lpwstr>
  </property>
  <property fmtid="{D5CDD505-2E9C-101B-9397-08002B2CF9AE}" pid="6" name="MSIP_Label_4342314e-0df4-4b58-84bf-38bed6170a0f_SiteId">
    <vt:lpwstr>3dd8961f-e488-4e60-8e11-a82d994e183d</vt:lpwstr>
  </property>
  <property fmtid="{D5CDD505-2E9C-101B-9397-08002B2CF9AE}" pid="7" name="MSIP_Label_4342314e-0df4-4b58-84bf-38bed6170a0f_ActionId">
    <vt:lpwstr>c84064de-1b2c-4933-b2dd-3caeea58c5a8</vt:lpwstr>
  </property>
  <property fmtid="{D5CDD505-2E9C-101B-9397-08002B2CF9AE}" pid="8" name="MSIP_Label_4342314e-0df4-4b58-84bf-38bed6170a0f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[AMD Official Use Only - General]</vt:lpwstr>
  </property>
</Properties>
</file>